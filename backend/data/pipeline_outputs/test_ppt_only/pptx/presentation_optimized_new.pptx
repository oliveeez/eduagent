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1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20.gif"/><Relationship Id="rId3" Type="http://schemas.openxmlformats.org/officeDocument/2006/relationships/image" Target="../media/image2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400">
                <a:solidFill>
                  <a:srgbClr val="C00000"/>
                </a:solidFill>
                <a:latin typeface="微软雅黑"/>
              </a:rPr>
              <a:t>Coq验证入门：整数算术与大小比较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尽管开发者追求代码的完美，但传统的**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单元测试</a:t>
            </a:r>
            <a:r>
              <a:rPr sz="1800">
                <a:solidFill>
                  <a:srgbClr val="000000"/>
                </a:solidFill>
                <a:latin typeface="微软雅黑"/>
              </a:rPr>
              <a:t>**由于覆盖率局限，**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难以穷尽</a:t>
            </a:r>
            <a:r>
              <a:rPr sz="1800">
                <a:solidFill>
                  <a:srgbClr val="000000"/>
                </a:solidFill>
                <a:latin typeface="微软雅黑"/>
              </a:rPr>
              <a:t>**所有潜在缺陷。在航空航天与金融交易等对错误零容忍的领域，必须引入**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形式化验证</a:t>
            </a:r>
            <a:r>
              <a:rPr sz="1800">
                <a:solidFill>
                  <a:srgbClr val="000000"/>
                </a:solidFill>
                <a:latin typeface="微软雅黑"/>
              </a:rPr>
              <a:t>**。**</a:t>
            </a:r>
            <a:r>
              <a:rPr sz="1800">
                <a:solidFill>
                  <a:srgbClr val="C00000"/>
                </a:solidFill>
                <a:latin typeface="微软雅黑"/>
              </a:rPr>
              <a:t>Coq</a:t>
            </a:r>
            <a:r>
              <a:rPr sz="1800">
                <a:solidFill>
                  <a:srgbClr val="000000"/>
                </a:solidFill>
                <a:latin typeface="微软雅黑"/>
              </a:rPr>
              <a:t>**作为该领域的强力工具，能够从**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数学逻辑</a:t>
            </a:r>
            <a:r>
              <a:rPr sz="1800">
                <a:solidFill>
                  <a:srgbClr val="000000"/>
                </a:solidFill>
                <a:latin typeface="微软雅黑"/>
              </a:rPr>
              <a:t>**的底层，为系统的**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绝对正确性</a:t>
            </a:r>
            <a:r>
              <a:rPr sz="1800">
                <a:solidFill>
                  <a:srgbClr val="000000"/>
                </a:solidFill>
                <a:latin typeface="微软雅黑"/>
              </a:rPr>
              <a:t>**提供严格担保。</a:t>
            </a:r>
          </a:p>
        </p:txBody>
      </p:sp>
      <p:pic>
        <p:nvPicPr>
          <p:cNvPr id="6" name="Picture 5" descr="tmpmbji7x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  <p:pic>
        <p:nvPicPr>
          <p:cNvPr id="7" name="Picture 6" descr="tmpu90jjy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097780"/>
            <a:ext cx="4114800" cy="1303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164592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2552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《孙子算经》中的鸡兔同笼问题通过构建代数方程组，实现了从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现实实体</a:t>
            </a:r>
            <a:r>
              <a:rPr sz="1800">
                <a:solidFill>
                  <a:srgbClr val="000000"/>
                </a:solidFill>
                <a:latin typeface="微软雅黑"/>
              </a:rPr>
              <a:t>到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数学符号</a:t>
            </a:r>
            <a:r>
              <a:rPr sz="1800">
                <a:solidFill>
                  <a:srgbClr val="000000"/>
                </a:solidFill>
                <a:latin typeface="微软雅黑"/>
              </a:rPr>
              <a:t>的抽象，体现了朴素的</a:t>
            </a:r>
            <a:r>
              <a:rPr sz="1800">
                <a:solidFill>
                  <a:srgbClr val="C00000"/>
                </a:solidFill>
                <a:latin typeface="微软雅黑"/>
              </a:rPr>
              <a:t>数学建模</a:t>
            </a:r>
            <a:r>
              <a:rPr sz="1800">
                <a:solidFill>
                  <a:srgbClr val="000000"/>
                </a:solidFill>
                <a:latin typeface="微软雅黑"/>
              </a:rPr>
              <a:t>思想；而Coq旨在进一步将数学表达转化为机器可理解并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验证</a:t>
            </a:r>
            <a:r>
              <a:rPr sz="1800">
                <a:solidFill>
                  <a:srgbClr val="000000"/>
                </a:solidFill>
                <a:latin typeface="微软雅黑"/>
              </a:rPr>
              <a:t>的</a:t>
            </a:r>
            <a:r>
              <a:rPr sz="1800">
                <a:solidFill>
                  <a:srgbClr val="C00000"/>
                </a:solidFill>
                <a:latin typeface="微软雅黑"/>
              </a:rPr>
              <a:t>形式化语言</a:t>
            </a:r>
            <a:r>
              <a:rPr sz="180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80"/>
                </a:solidFill>
                <a:latin typeface="Cambria Math"/>
              </a:defRPr>
            </a:pPr>
            <a:r>
              <a:t>x + y = 35</a:t>
            </a:r>
            <a:br/>
            <a:r>
              <a:t>2x + 4y = 94</a:t>
            </a:r>
          </a:p>
        </p:txBody>
      </p:sp>
      <p:pic>
        <p:nvPicPr>
          <p:cNvPr id="7" name="Picture 6" descr="tmpyr75a49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32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1828800"/>
            <a:ext cx="5486400" cy="274320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0" y="2743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尽管人脑在简单计算中具备直觉优势，但在处理涉及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海量变量</a:t>
            </a:r>
            <a:r>
              <a:rPr sz="1800">
                <a:solidFill>
                  <a:srgbClr val="000000"/>
                </a:solidFill>
                <a:latin typeface="微软雅黑"/>
              </a:rPr>
              <a:t>或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长链路证明</a:t>
            </a:r>
            <a:r>
              <a:rPr sz="1800">
                <a:solidFill>
                  <a:srgbClr val="000000"/>
                </a:solidFill>
                <a:latin typeface="微软雅黑"/>
              </a:rPr>
              <a:t>的复杂命题时，唯有引入</a:t>
            </a:r>
            <a:r>
              <a:rPr sz="1800">
                <a:solidFill>
                  <a:srgbClr val="C00000"/>
                </a:solidFill>
                <a:latin typeface="微软雅黑"/>
              </a:rPr>
              <a:t>机器验证</a:t>
            </a:r>
            <a:r>
              <a:rPr sz="1800">
                <a:solidFill>
                  <a:srgbClr val="000000"/>
                </a:solidFill>
                <a:latin typeface="微软雅黑"/>
              </a:rPr>
              <a:t>机制，才能有效克服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人为疏忽</a:t>
            </a:r>
            <a:r>
              <a:rPr sz="1800">
                <a:solidFill>
                  <a:srgbClr val="000000"/>
                </a:solidFill>
                <a:latin typeface="微软雅黑"/>
              </a:rPr>
              <a:t>，确保逻辑推理的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绝对严谨性</a:t>
            </a:r>
            <a:r>
              <a:rPr sz="180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[关系图]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3351276" y="137160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436876" y="2606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传统编程语言通常将整数作为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内置原语</a:t>
            </a:r>
            <a:r>
              <a:rPr sz="1800">
                <a:solidFill>
                  <a:srgbClr val="000000"/>
                </a:solidFill>
                <a:latin typeface="微软雅黑"/>
              </a:rPr>
              <a:t>，而在 Coq 的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底层逻辑</a:t>
            </a:r>
            <a:r>
              <a:rPr sz="1800">
                <a:solidFill>
                  <a:srgbClr val="000000"/>
                </a:solidFill>
                <a:latin typeface="微软雅黑"/>
              </a:rPr>
              <a:t>中，必须通过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构造性定义</a:t>
            </a:r>
            <a:r>
              <a:rPr sz="1800">
                <a:solidFill>
                  <a:srgbClr val="000000"/>
                </a:solidFill>
                <a:latin typeface="微软雅黑"/>
              </a:rPr>
              <a:t>从零开始构建</a:t>
            </a:r>
            <a:r>
              <a:rPr sz="1800">
                <a:solidFill>
                  <a:srgbClr val="C00000"/>
                </a:solidFill>
                <a:latin typeface="微软雅黑"/>
              </a:rPr>
              <a:t>自然数</a:t>
            </a:r>
            <a:r>
              <a:rPr sz="1800">
                <a:solidFill>
                  <a:srgbClr val="000000"/>
                </a:solidFill>
                <a:latin typeface="微软雅黑"/>
              </a:rPr>
              <a:t>的概念。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[关系图]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1371600" y="137160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8476" y="3200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Coq标准库依据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皮亚诺公理</a:t>
            </a:r>
            <a:r>
              <a:rPr sz="1800">
                <a:solidFill>
                  <a:srgbClr val="000000"/>
                </a:solidFill>
                <a:latin typeface="微软雅黑"/>
              </a:rPr>
              <a:t>，通过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归纳类型</a:t>
            </a:r>
            <a:r>
              <a:rPr sz="1800">
                <a:solidFill>
                  <a:srgbClr val="000000"/>
                </a:solidFill>
                <a:latin typeface="微软雅黑"/>
              </a:rPr>
              <a:t>定义</a:t>
            </a:r>
            <a:r>
              <a:rPr sz="1800">
                <a:solidFill>
                  <a:srgbClr val="C00000"/>
                </a:solidFill>
                <a:latin typeface="微软雅黑"/>
              </a:rPr>
              <a:t>自然数</a:t>
            </a:r>
            <a:r>
              <a:rPr sz="1800">
                <a:solidFill>
                  <a:srgbClr val="000000"/>
                </a:solidFill>
                <a:latin typeface="微软雅黑"/>
              </a:rPr>
              <a:t>。该结构仅包含两个基本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构造子</a:t>
            </a:r>
            <a:r>
              <a:rPr sz="1800">
                <a:solidFill>
                  <a:srgbClr val="000000"/>
                </a:solidFill>
                <a:latin typeface="微软雅黑"/>
              </a:rPr>
              <a:t>：代表数值零的O与代表</a:t>
            </a:r>
            <a:r>
              <a:rPr sz="1800">
                <a:solidFill>
                  <a:srgbClr val="C00000"/>
                </a:solidFill>
                <a:latin typeface="微软雅黑"/>
              </a:rPr>
              <a:t>后继</a:t>
            </a:r>
            <a:r>
              <a:rPr sz="1800">
                <a:solidFill>
                  <a:srgbClr val="000000"/>
                </a:solidFill>
                <a:latin typeface="微软雅黑"/>
              </a:rPr>
              <a:t>运算的S。在此定义下，任意</a:t>
            </a:r>
            <a:r>
              <a:rPr sz="1800">
                <a:solidFill>
                  <a:srgbClr val="C00000"/>
                </a:solidFill>
                <a:latin typeface="微软雅黑"/>
              </a:rPr>
              <a:t>自然数</a:t>
            </a:r>
            <a:r>
              <a:rPr sz="1800">
                <a:solidFill>
                  <a:srgbClr val="000000"/>
                </a:solidFill>
                <a:latin typeface="微软雅黑"/>
              </a:rPr>
              <a:t>均通过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递归构造</a:t>
            </a:r>
            <a:r>
              <a:rPr sz="1800">
                <a:solidFill>
                  <a:srgbClr val="000000"/>
                </a:solidFill>
                <a:latin typeface="微软雅黑"/>
              </a:rPr>
              <a:t>生成，例如1表示为S O，2表示为S (S O)。</a:t>
            </a:r>
          </a:p>
        </p:txBody>
      </p:sp>
      <p:pic>
        <p:nvPicPr>
          <p:cNvPr id="6" name="Picture 5" descr="slide_005_coq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486400"/>
            <a:ext cx="4572000" cy="2571750"/>
          </a:xfrm>
          <a:prstGeom prst="rect">
            <a:avLst/>
          </a:prstGeom>
        </p:spPr>
      </p:pic>
      <p:pic>
        <p:nvPicPr>
          <p:cNvPr id="7" name="Picture 6" descr="slide_005_rel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4674870"/>
            <a:ext cx="7315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842391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自然数通过层层嵌套构造，每个数都是前一个数被“S”包裹的递归结构。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3351276" y="146304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619756" y="2834640"/>
            <a:ext cx="69494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Coq通过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记号机制</a:t>
            </a:r>
            <a:r>
              <a:rPr sz="1800">
                <a:solidFill>
                  <a:srgbClr val="000000"/>
                </a:solidFill>
                <a:latin typeface="微软雅黑"/>
              </a:rPr>
              <a:t>允许将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阿拉伯数字</a:t>
            </a:r>
            <a:r>
              <a:rPr sz="1800">
                <a:solidFill>
                  <a:srgbClr val="000000"/>
                </a:solidFill>
                <a:latin typeface="微软雅黑"/>
              </a:rPr>
              <a:t>自动解析为基于</a:t>
            </a:r>
            <a:r>
              <a:rPr sz="1800">
                <a:solidFill>
                  <a:srgbClr val="C00000"/>
                </a:solidFill>
                <a:latin typeface="微软雅黑"/>
              </a:rPr>
              <a:t>构造函数</a:t>
            </a:r>
            <a:r>
              <a:rPr sz="1800">
                <a:solidFill>
                  <a:srgbClr val="000000"/>
                </a:solidFill>
                <a:latin typeface="微软雅黑"/>
              </a:rPr>
              <a:t>的嵌套序列，例如将数字转换为多层递归结构。该机制在保持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底层结构</a:t>
            </a:r>
            <a:r>
              <a:rPr sz="1800">
                <a:solidFill>
                  <a:srgbClr val="000000"/>
                </a:solidFill>
                <a:latin typeface="微软雅黑"/>
              </a:rPr>
              <a:t>为nat类型的同时，消除了手工输入大量符号的冗余，从而兼顾了形式化定义的严谨性与代码的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可读性</a:t>
            </a:r>
            <a:r>
              <a:rPr sz="180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pic>
        <p:nvPicPr>
          <p:cNvPr id="6" name="Picture 5" descr="slide_006_rel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